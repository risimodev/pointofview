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2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6681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Представьтесь. ViziAI — платформа, которая превращает обычные IP-камеры в интеллектуальных наблюдателей без покупки дорогого оборудования.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Рынок ПВЗ и лёгких производств в России: тысячи точек, ни одна из которых не имеет доступной интеллектуальной аналитики. CCTV есть везде — пользы от него ноль.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Весь пайплайн работает асинхронно через Redis Streams. Падение одной камеры не роняет систему — переподключение с экспоненциальным бэкоффом.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Фундамент полностью готов. Сейчас ведётся разработка бизнес-логики: зоны, клипы, алерты, плагины.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Плагинная архитектура позволяет добавлять новые виды анализа без изменения ядра. Один тенант — один набор активных плагинов.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Весь стек — open source, без привязки к вендору. Можно развернуть на любом Linux-сервере от домашнего ПК до стойки ДЦ.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Начинаем с ПВЗ — самый понятный pain point (перепакование, вскрытие посылок). Потом производство через партнёров.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Переключение DEPLOYMENT_MODE=cloud|on-premise. Код один и тот же, конфигурация разная. Это принципиальное архитектурное решение с первого дня.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Приоритет — первый пилот в реальных условиях. После v1.0 открываем API для партнёрских интеграций.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economics: при 100 ПВЗ на Base-тарифе — 290 000 ₽/мес MRR. Цель первого года — 50 активных точек.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Каждая из этих функций — отдельный плагин или интеграционный модуль. Плагинная архитектура позволяет добавлять их не затрагивая ядро.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Закончите призывом к действию: предложите пилот на одной из их точек — бесплатно на 30 дней. Нам нужен реальный фидбэк, им — бесплатный инструмент.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BZK-</a:t>
            </a:r>
            <a:r>
              <a:rPr lang="en-US" sz="5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834640" y="457200"/>
            <a:ext cx="1097280" cy="832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видеоаналитики для ПВЗ и производств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2860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860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контроль персонала, зон и событий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</a:t>
            </a:r>
            <a:r>
              <a:rPr lang="en-US" sz="1500" dirty="0" err="1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реальном</a:t>
            </a:r>
            <a:r>
              <a:rPr lang="en-US" sz="15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времени</a:t>
            </a:r>
            <a:r>
              <a:rPr lang="en-US" sz="1500" dirty="0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обычные IP-камеры.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0D3B6E">
              <a:alpha val="7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 мс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94360" y="4069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342900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0D3B6E">
              <a:alpha val="7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697480" y="4069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42900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0D3B6E">
              <a:alpha val="7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900" b="1" dirty="0" smtClean="0">
                <a:solidFill>
                  <a:srgbClr val="02C39A"/>
                </a:solidFill>
                <a:latin typeface="Calibri" pitchFamily="34" charset="0"/>
                <a:cs typeface="Calibri" pitchFamily="34" charset="-120"/>
              </a:rPr>
              <a:t>Облачные</a:t>
            </a:r>
            <a:endParaRPr lang="en-US" sz="1900" dirty="0"/>
          </a:p>
          <a:p>
            <a:pPr marL="0" indent="0" algn="ctr">
              <a:buNone/>
            </a:pPr>
            <a:r>
              <a:rPr lang="ru-RU" sz="1900" b="1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локальные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800600" y="4069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режимы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развёртки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342900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0D3B6E">
              <a:alpha val="7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903720" y="4069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v8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BytesTrack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</a:t>
            </a:r>
            <a:r>
              <a:rPr lang="en-US" sz="900" dirty="0" err="1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</a:t>
            </a: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bzkdev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происходит на ПВЗ и производстве без видеоаналитики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898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Слепые зоны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5564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видит </a:t>
            </a:r>
            <a:r>
              <a:rPr lang="en-US" sz="1000" dirty="0" err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</a:t>
            </a: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 smtClean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 smtClean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только после инцидента. Нарушения замечают спустя часы или не замечают вовсе.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2801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3898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Ручной контроль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175564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Подсчёт посетителей, проверка зон, контроль СИЗ </a:t>
            </a:r>
            <a:r>
              <a:rPr lang="ru-RU" sz="1000" dirty="0" smtClean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 smtClean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делается руками, занимает время и даёт ошибки.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13898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Потери без причины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2200" y="175564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Очереди, непорядок на полках, пропущенные нарушения — прямые потери, которые никто не считает.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0815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Реакция постфактум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44728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оповещений в реальном времени. О проблеме узнают только когда уже поздно что-то исправить.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29718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30815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Нет доказательной базы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344728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спорах и проверках нет структурированных данных, только сырое </a:t>
            </a:r>
            <a:r>
              <a:rPr lang="en-US" sz="1000" dirty="0" err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</a:t>
            </a: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 smtClean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 smtClean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долго и неудобно.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29718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72200" y="30815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Нет аналитики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344728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о трафике, загрузке персонала, времени обслуживания не накапливаются и не анализируются.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ViziAI превращает существующие камеры в умную систему мониторинга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1261872" cy="914400"/>
          </a:xfrm>
          <a:prstGeom prst="roundRect">
            <a:avLst>
              <a:gd name="adj" fmla="val 12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📷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IP-камеры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/ SRT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27632" y="1856232"/>
            <a:ext cx="95098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77010" y="1801368"/>
            <a:ext cx="109728" cy="1463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68450" y="1417320"/>
            <a:ext cx="1261872" cy="914400"/>
          </a:xfrm>
          <a:prstGeom prst="roundRect">
            <a:avLst>
              <a:gd name="adj" fmla="val 12000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14170" y="146304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4170" y="18288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буфер</a:t>
            </a:r>
            <a:r>
              <a:rPr lang="en-US" sz="9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кадров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76042" y="1856232"/>
            <a:ext cx="95098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25419" y="1801368"/>
            <a:ext cx="109728" cy="1463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6859" y="1417320"/>
            <a:ext cx="1261872" cy="9144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2579" y="146304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000" dirty="0">
                <a:solidFill>
                  <a:schemeClr val="bg1"/>
                </a:solidFill>
              </a:rPr>
              <a:t>♦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2579" y="18288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ru-RU" sz="9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24451" y="1856232"/>
            <a:ext cx="95098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3829" y="1801368"/>
            <a:ext cx="109728" cy="1463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5269" y="1417320"/>
            <a:ext cx="1261872" cy="914400"/>
          </a:xfrm>
          <a:prstGeom prst="roundRect">
            <a:avLst>
              <a:gd name="adj" fmla="val 12000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0989" y="146304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10989" y="18288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5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Зоны на </a:t>
            </a:r>
            <a:r>
              <a:rPr lang="ru-RU" sz="95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намерах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72861" y="1856232"/>
            <a:ext cx="95098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22238" y="1801368"/>
            <a:ext cx="109728" cy="1463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13678" y="1417320"/>
            <a:ext cx="1261872" cy="914400"/>
          </a:xfrm>
          <a:prstGeom prst="roundRect">
            <a:avLst>
              <a:gd name="adj" fmla="val 12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9398" y="146304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🔔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59398" y="18288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и оповещения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21270" y="1856232"/>
            <a:ext cx="95098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70648" y="1801368"/>
            <a:ext cx="109728" cy="1463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62088" y="1417320"/>
            <a:ext cx="1261872" cy="9144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07808" y="146304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📊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607808" y="18288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управления и </a:t>
            </a:r>
            <a:r>
              <a:rPr lang="en-US" sz="9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Streams — шина сообщений между всеми сервисами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" y="292608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0D3B6E">
              <a:alpha val="8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29992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TimescaleDB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34290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событий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гипертаблицы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651760" y="292608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0D3B6E">
              <a:alpha val="8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97480" y="29992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S3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697480" y="34290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Клипы и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скриншоты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292608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0D3B6E">
              <a:alpha val="8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9992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54880" y="34290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Алерты в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реальном времени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766560" y="292608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0D3B6E">
              <a:alpha val="8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12280" y="29992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12280" y="34290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Live-события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браузере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уже готово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разработки MVP по компонентам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3520440"/>
          </a:xfrm>
          <a:prstGeom prst="roundRect">
            <a:avLst>
              <a:gd name="adj" fmla="val 3636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Готово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Инфраструктура: PostgreSQL + TimescaleDB, Redis, MinIO, go2rtc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9933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Analyzer: инжест RTSP/SRT, YOLO v8 детекция, ByteTrack трекинг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32257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Streams: raw_frames → track_events → events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(Fastify 5 + TypeScript): REST + WebSocket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98094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ORM: схемы + миграции всех таблиц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3101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JWT-аутентификация + мультитенантность (tenant_id)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6393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Фронтенд: Next.js 15, live-события через WebSocket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96849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Compose: dev и prod конфиги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4023360" cy="3520440"/>
          </a:xfrm>
          <a:prstGeom prst="roundRect">
            <a:avLst>
              <a:gd name="adj" fmla="val 3636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В разработке / MVP шаги 5–8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6642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Engine: геофенсинг, zone_entry / zone_exit события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9933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 Worker: BullMQ + ffmpeg нарезка клипов по запросу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32257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Worker: Telegram-бот + Email + Webhook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6517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 queue_alert: детектирование длинных очередей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98094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 repack_event: фиксация перепакования на ПВЗ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3101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 shelf_violation: мониторинг полок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6393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Редактор зон: Canvas API поверх видео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96849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Расписания активности зон и алерт-правил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функции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клиент из коробки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0D3B6E">
              <a:alpha val="85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2801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 Live-мониторинг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6916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через go2rtc </a:t>
            </a:r>
            <a:r>
              <a:rPr lang="ru-RU" sz="1000" dirty="0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нулевая задержка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" y="203911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Одновременно все камеры на экране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23865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720p/1080p без потоков через облако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0D3B6E">
              <a:alpha val="85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12801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Зоны и геофенсинг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55848" y="16916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Произвольные полигоны прямо на видео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55848" y="203911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/ выход / время нахождения в зоне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55848" y="23865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Расписание активности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0D3B6E">
              <a:alpha val="85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36208" y="12801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Алерты в реальном времени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16916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Telegram, Email, Webhook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36208" y="203911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Настраиваемые правила и кулдаун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36208" y="23865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Приоритеты: info / warn / critical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0D3B6E">
              <a:alpha val="85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 </a:t>
            </a:r>
            <a:r>
              <a:rPr lang="en-US" sz="1300" b="1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</a:t>
            </a:r>
            <a:r>
              <a:rPr lang="en-US" sz="1300" b="1" dirty="0" err="1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" y="34747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Очереди: queue_alert при &gt; N человек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" y="38221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 err="1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</a:t>
            </a:r>
            <a:r>
              <a:rPr lang="ru-RU" sz="1000" dirty="0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упаковка</a:t>
            </a:r>
            <a:r>
              <a:rPr lang="en-US" sz="1000" dirty="0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repack_event на ПВЗ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" y="41696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Нарушения СИЗ: ppe_violation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297180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0D3B6E">
              <a:alpha val="85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55848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📼  Видеоархив и клипы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55848" y="34747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Автонарезка клипа при событии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55848" y="38221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r>
              <a:rPr lang="ru-RU" sz="1000" dirty="0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</a:t>
            </a:r>
            <a:r>
              <a:rPr lang="en-US" sz="1000" dirty="0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</a:t>
            </a:r>
            <a:r>
              <a:rPr lang="ru-RU" sz="1000" dirty="0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клипов и видео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55848" y="41696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событиям, скриншоты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97180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0D3B6E">
              <a:alpha val="85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36208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Аналитика и отчёты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36208" y="34747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TimescaleDB: </a:t>
            </a:r>
            <a:r>
              <a:rPr lang="ru-RU" sz="1000" dirty="0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быстрая </a:t>
            </a:r>
            <a:r>
              <a:rPr lang="ru-RU" sz="1000" dirty="0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ru-RU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r>
              <a:rPr lang="ru-RU" sz="1000" dirty="0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работка </a:t>
            </a:r>
            <a:r>
              <a:rPr lang="en-US" sz="1000" dirty="0" err="1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миллиард</a:t>
            </a:r>
            <a:r>
              <a:rPr lang="ru-RU" sz="1000" dirty="0" err="1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</a:t>
            </a:r>
            <a:r>
              <a:rPr lang="en-US" sz="1000" dirty="0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событий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36208" y="38221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Тренды по зонам, камерам, </a:t>
            </a:r>
            <a:r>
              <a:rPr lang="ru-RU" sz="1000" dirty="0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ПВЗ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36208" y="41696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</a:t>
            </a: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отчетов </a:t>
            </a:r>
            <a:r>
              <a:rPr lang="en-US" sz="1000" dirty="0" err="1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1000" dirty="0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руководства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Технологический стек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Надёжные компоненты без vendor lock-in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2011680" cy="36118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15568"/>
            <a:ext cx="2011680" cy="457200"/>
          </a:xfrm>
          <a:prstGeom prst="roundRect">
            <a:avLst>
              <a:gd name="adj" fmla="val 28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201168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Аналитика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+ mypy strict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3969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(Ultralytics)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6151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(supervision)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090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кадров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566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Streams consumer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40416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CUDA, </a:t>
            </a:r>
            <a:r>
              <a:rPr lang="en-US" sz="1000" dirty="0" err="1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</a:t>
            </a: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115568"/>
            <a:ext cx="2011680" cy="36118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115568"/>
            <a:ext cx="2011680" cy="457200"/>
          </a:xfrm>
          <a:prstGeom prst="roundRect">
            <a:avLst>
              <a:gd name="adj" fmla="val 28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1371600"/>
            <a:ext cx="201168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1143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16642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22 LTS + TypeScript strict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213969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Fastify 5 + WebSocket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26151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</a:t>
            </a:r>
            <a:r>
              <a:rPr lang="en-US" sz="100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3090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</a:t>
            </a: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запросов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3566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(Redis) </a:t>
            </a:r>
            <a:r>
              <a:rPr lang="ru-RU" sz="100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40416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мультитенантность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1115568"/>
            <a:ext cx="2011680" cy="36118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1115568"/>
            <a:ext cx="2011680" cy="457200"/>
          </a:xfrm>
          <a:prstGeom prst="roundRect">
            <a:avLst>
              <a:gd name="adj" fmla="val 28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371600"/>
            <a:ext cx="2011680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143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16642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(App Router)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213969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 + TailwindCSS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9160" y="26151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</a:t>
            </a:r>
            <a:r>
              <a:rPr lang="ru-RU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кеш API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3090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9160" y="3566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via go2rtc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40416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API </a:t>
            </a:r>
            <a:r>
              <a:rPr lang="ru-RU" sz="100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редактор зон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0" y="1115568"/>
            <a:ext cx="2011680" cy="36118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66560" y="1115568"/>
            <a:ext cx="2011680" cy="457200"/>
          </a:xfrm>
          <a:prstGeom prst="roundRect">
            <a:avLst>
              <a:gd name="adj" fmla="val 28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0" y="1371600"/>
            <a:ext cx="2011680" cy="2011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1143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58000" y="16642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TimescaleDB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0" y="213969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 (Streams + BullMQ)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0" y="26151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(S3-совместимый)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0" y="3090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go2rtc </a:t>
            </a:r>
            <a:r>
              <a:rPr lang="ru-RU" sz="100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RTSP→WebRTC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0" y="3566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WireGuard VPN туннели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58000" y="40416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Целевой рынок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Россия: нишевые вертикали с высоким спросом и низким насыщением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188720"/>
          </a:xfrm>
          <a:prstGeom prst="roundRect">
            <a:avLst>
              <a:gd name="adj" fmla="val 10769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618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50 000+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810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ПВЗ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России (2025)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188720"/>
          </a:xfrm>
          <a:prstGeom prst="roundRect">
            <a:avLst>
              <a:gd name="adj" fmla="val 10769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2618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200 000+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37560" y="1810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малых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560320" cy="1188720"/>
          </a:xfrm>
          <a:prstGeom prst="roundRect">
            <a:avLst>
              <a:gd name="adj" fmla="val 10769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2618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72200" y="1810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используют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видеоаналитику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0D3B6E">
              <a:alpha val="80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7249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ПВЗ (Wildberries, OZON, СДЭ К…)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315468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перепакования и повреждений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365760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посетителей и времени обслуживания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" y="416052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зон выдачи и примерочных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46120" y="265176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0D3B6E">
              <a:alpha val="80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27249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Лёгкое производство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55848" y="315468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СИЗ (каски, жилеты, очки)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55848" y="365760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рабочих зон и запрещённых зон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55848" y="416052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Очереди на складе / конвейере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265176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0D3B6E">
              <a:alpha val="80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27249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Ритейл и склады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36208" y="315468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Детекция пустых полок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36208" y="365760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персонала и посетителей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36208" y="416052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Видеоаудит выкладки товаров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Гибкое развёртывание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</a:t>
            </a:r>
            <a:r>
              <a:rPr lang="en-US" sz="1300" dirty="0" err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</a:t>
            </a: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 smtClean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dirty="0" smtClean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режима. Переключение </a:t>
            </a:r>
            <a:r>
              <a:rPr lang="en-US" sz="1300" dirty="0" err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одной</a:t>
            </a: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переменно</a:t>
            </a:r>
            <a:r>
              <a:rPr lang="ru-RU" sz="1300" dirty="0" smtClean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77640" cy="3566160"/>
          </a:xfrm>
          <a:prstGeom prst="roundRect">
            <a:avLst>
              <a:gd name="adj" fmla="val 3590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</a:t>
            </a:r>
            <a:r>
              <a:rPr lang="ru-RU" sz="1600" b="1" dirty="0" smtClean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Облачное решение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ПВЗ-сетей и малого бизнеса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0299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 err="1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</a:t>
            </a:r>
            <a:r>
              <a:rPr lang="ru-RU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ru-RU" sz="1100" dirty="0" smtClean="0"/>
              <a:t>изолированная среда </a:t>
            </a:r>
            <a:r>
              <a:rPr lang="en-US" sz="1100" dirty="0" err="1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10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нашем сервере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1401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Камеры → WireGuard VPN → наш ДЦ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980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подписка, мгновенный старт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1821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Обновления без участия клиента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</a:t>
            </a:r>
            <a:r>
              <a:rPr lang="en-US" sz="110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ПК </a:t>
            </a: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стойка ДЦ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950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дашборд для всей сети ПВЗ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143000"/>
            <a:ext cx="3977640" cy="3566160"/>
          </a:xfrm>
          <a:prstGeom prst="roundRect">
            <a:avLst>
              <a:gd name="adj" fmla="val 3590"/>
            </a:avLst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23444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</a:t>
            </a:r>
            <a:r>
              <a:rPr lang="ru-RU" sz="1600" b="1" dirty="0" smtClean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Локальное решение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166420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заводов и изолированных сетей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0299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сервисы разворачиваются локально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41401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исходящего </a:t>
            </a:r>
            <a:r>
              <a:rPr lang="en-US" sz="1100" dirty="0" err="1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трафика</a:t>
            </a: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изоляция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7980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Одноразовая лицензия + техподдержка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1821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</a:t>
            </a:r>
            <a:r>
              <a:rPr lang="en-US" sz="1100" dirty="0" err="1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</a:t>
            </a: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566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Подходит для </a:t>
            </a:r>
            <a:r>
              <a:rPr lang="en-US" sz="1100" dirty="0" err="1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режимных</a:t>
            </a: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объектов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950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 не покидает периметр предприятия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MVP к полноценной платформе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342353" y="1389888"/>
            <a:ext cx="274320" cy="54864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143000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1612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011680" cy="2926080"/>
          </a:xfrm>
          <a:prstGeom prst="roundRect">
            <a:avLst>
              <a:gd name="adj" fmla="val 6364"/>
            </a:avLst>
          </a:prstGeom>
          <a:solidFill>
            <a:srgbClr val="003320"/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0195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6334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 готова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1363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Детекция + трекинг работают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36393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WebSocket + фронтенд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4142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Engine в разработке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53925" y="1389888"/>
            <a:ext cx="274320" cy="54864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138428"/>
            <a:ext cx="548640" cy="548640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15671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60320" y="1828800"/>
            <a:ext cx="2011680" cy="2926080"/>
          </a:xfrm>
          <a:prstGeom prst="roundRect">
            <a:avLst>
              <a:gd name="adj" fmla="val 6364"/>
            </a:avLst>
          </a:prstGeom>
          <a:solidFill>
            <a:srgbClr val="2D2000"/>
          </a:solidFill>
          <a:ln w="12700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90195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651760" y="2286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70048" y="26334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Зоны + все базовые события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70048" y="31363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 + Alerts workers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70048" y="36393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Плагины: queue, repack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0048" y="4142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пилот у клиента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31473" y="1389888"/>
            <a:ext cx="274320" cy="54864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32120" y="1127831"/>
            <a:ext cx="548640" cy="548640"/>
          </a:xfrm>
          <a:prstGeom prst="ellipse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1146119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1828800"/>
            <a:ext cx="2011680" cy="2926080"/>
          </a:xfrm>
          <a:prstGeom prst="roundRect">
            <a:avLst>
              <a:gd name="adj" fmla="val 6364"/>
            </a:avLst>
          </a:prstGeom>
          <a:solidFill>
            <a:srgbClr val="2D1200"/>
          </a:solidFill>
          <a:ln w="12700">
            <a:solidFill>
              <a:srgbClr val="FF8A65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90195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46320" y="2286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64608" y="26334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 СИЗ (ppe_violation)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64608" y="31363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 плагин (опционально)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64608" y="36393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violation плагин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64608" y="4142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 приложение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26680" y="1162777"/>
            <a:ext cx="548640" cy="548640"/>
          </a:xfrm>
          <a:prstGeom prst="ellipse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26680" y="1181065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949440" y="1828800"/>
            <a:ext cx="2011680" cy="2926080"/>
          </a:xfrm>
          <a:prstGeom prst="roundRect">
            <a:avLst>
              <a:gd name="adj" fmla="val 6364"/>
            </a:avLst>
          </a:prstGeom>
          <a:solidFill>
            <a:srgbClr val="1A0030"/>
          </a:solidFill>
          <a:ln w="12700">
            <a:solidFill>
              <a:srgbClr val="CE93D8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190195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040880" y="2286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59168" y="26334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TensorRT-ускорение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59168" y="31363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Авто-отчёты по расписанию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59168" y="36393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для интеграций (1С и др)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059168" y="4142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Маркетплейс плагинов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16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потока выручки с разными профилями риска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2697480" cy="3657600"/>
          </a:xfrm>
          <a:prstGeom prst="roundRect">
            <a:avLst>
              <a:gd name="adj" fmla="val 4746"/>
            </a:avLst>
          </a:prstGeom>
          <a:solidFill>
            <a:srgbClr val="E3F2FD"/>
          </a:solidFill>
          <a:ln w="12700">
            <a:solidFill>
              <a:srgbClr val="1565C0">
                <a:alpha val="6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88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1887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Подписка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 smtClean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ru-RU" sz="1300" b="1" dirty="0" smtClean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облако</a:t>
            </a:r>
            <a:r>
              <a:rPr lang="en-US" sz="1300" b="1" dirty="0" smtClean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2423160" cy="18288"/>
          </a:xfrm>
          <a:prstGeom prst="rect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190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742469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Безлимит по событиям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45389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Включает алерты + клипы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748309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Тарифы: Base / Pro / Enterprise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251229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Скидка от 5+ точек в сети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115568"/>
            <a:ext cx="2697480" cy="3657600"/>
          </a:xfrm>
          <a:prstGeom prst="roundRect">
            <a:avLst>
              <a:gd name="adj" fmla="val 4746"/>
            </a:avLst>
          </a:prstGeom>
          <a:solidFill>
            <a:srgbClr val="F3E5F5"/>
          </a:solidFill>
          <a:ln w="12700">
            <a:solidFill>
              <a:srgbClr val="6A1B9A">
                <a:alpha val="6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1188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40480" y="11887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b="1" dirty="0" smtClean="0">
                <a:solidFill>
                  <a:srgbClr val="6A1B9A"/>
                </a:solidFill>
                <a:latin typeface="Calibri" pitchFamily="34" charset="0"/>
                <a:cs typeface="Calibri" pitchFamily="34" charset="-120"/>
              </a:rPr>
              <a:t>Локальная решение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83280" y="1645920"/>
            <a:ext cx="2423160" cy="18288"/>
          </a:xfrm>
          <a:prstGeom prst="rect">
            <a:avLst/>
          </a:prstGeom>
          <a:solidFill>
            <a:srgbClr val="6A1B9A">
              <a:alpha val="40000"/>
            </a:srgbClr>
          </a:solidFill>
          <a:ln w="12700">
            <a:solidFill>
              <a:srgbClr val="6A1B9A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714111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Бессрочная лицензия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83280" y="2217031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 err="1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Техподдержка</a:t>
            </a: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годовой контракт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83280" y="2719951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 и настройка под ключ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3222871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ru-RU" sz="105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Обновления</a:t>
            </a:r>
            <a:r>
              <a:rPr lang="en-US" sz="105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 smtClean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соглашению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1115568"/>
            <a:ext cx="2697480" cy="3657600"/>
          </a:xfrm>
          <a:prstGeom prst="roundRect">
            <a:avLst>
              <a:gd name="adj" fmla="val 4746"/>
            </a:avLst>
          </a:prstGeom>
          <a:solidFill>
            <a:srgbClr val="E0F2F1"/>
          </a:solidFill>
          <a:ln w="12700">
            <a:solidFill>
              <a:srgbClr val="00897B">
                <a:alpha val="6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63640" y="1188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20840" y="11887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 smtClean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Плагины</a:t>
            </a:r>
            <a:r>
              <a:rPr lang="ru-RU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ru-RU" sz="1300" b="1" dirty="0" smtClean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как доп. функции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1645920"/>
            <a:ext cx="2423160" cy="18288"/>
          </a:xfrm>
          <a:prstGeom prst="rect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75664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ID, СИЗ, shelf — как опции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63640" y="225956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Маркетплейс плагинов (v2.0)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276248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Партнёрские плагины (revenue share)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63640" y="326540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разработка под заказ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 расширения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Функции, которые </a:t>
            </a:r>
            <a:r>
              <a:rPr lang="en-US" sz="1300" dirty="0" err="1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</a:t>
            </a:r>
            <a:r>
              <a:rPr lang="en-US" sz="1300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029968" cy="1600200"/>
          </a:xfrm>
          <a:prstGeom prst="roundRect">
            <a:avLst>
              <a:gd name="adj" fmla="val 6857"/>
            </a:avLst>
          </a:prstGeom>
          <a:solidFill>
            <a:srgbClr val="0D3B6E">
              <a:alpha val="8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80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Face 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Идентификация лиц из whitelist/blacklist. Контроль персонала, вход по лицу, неизвестные лица.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14600" y="1188720"/>
            <a:ext cx="2029968" cy="1600200"/>
          </a:xfrm>
          <a:prstGeom prst="roundRect">
            <a:avLst>
              <a:gd name="adj" fmla="val 6857"/>
            </a:avLst>
          </a:prstGeom>
          <a:solidFill>
            <a:srgbClr val="0D3B6E">
              <a:alpha val="8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280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b="1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☻ </a:t>
            </a:r>
            <a:r>
              <a:rPr lang="en-US" sz="1200" b="1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СИЗ </a:t>
            </a: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(PPE)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06040" y="16916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Детекция каски, жилета, очков, перчаток. Автоалерт при нарушении на производстве.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2029968" cy="1600200"/>
          </a:xfrm>
          <a:prstGeom prst="roundRect">
            <a:avLst>
              <a:gd name="adj" fmla="val 6857"/>
            </a:avLst>
          </a:prstGeom>
          <a:solidFill>
            <a:srgbClr val="0D3B6E">
              <a:alpha val="8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80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LPR Номера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6916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номерных знаков. Контроль въезда, автоматические ворота, черные списки.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03720" y="1188720"/>
            <a:ext cx="2029968" cy="1600200"/>
          </a:xfrm>
          <a:prstGeom prst="roundRect">
            <a:avLst>
              <a:gd name="adj" fmla="val 6857"/>
            </a:avLst>
          </a:prstGeom>
          <a:solidFill>
            <a:srgbClr val="0D3B6E">
              <a:alpha val="8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1280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Мобильное приложение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95160" y="16916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iOS/Android: push-алерты, live-видео, быстрый просмотр событий по дороге.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2029968" cy="1600200"/>
          </a:xfrm>
          <a:prstGeom prst="roundRect">
            <a:avLst>
              <a:gd name="adj" fmla="val 6857"/>
            </a:avLst>
          </a:prstGeom>
          <a:solidFill>
            <a:srgbClr val="0D3B6E">
              <a:alpha val="8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63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Интеграции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4747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1С, Bitrix24, СБИС, OpenAPI. Передача событий в ERP и CRM клиента.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14600" y="2971800"/>
            <a:ext cx="2029968" cy="1600200"/>
          </a:xfrm>
          <a:prstGeom prst="roundRect">
            <a:avLst>
              <a:gd name="adj" fmla="val 6857"/>
            </a:avLst>
          </a:prstGeom>
          <a:solidFill>
            <a:srgbClr val="0D3B6E">
              <a:alpha val="8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3063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b="1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 </a:t>
            </a:r>
            <a:r>
              <a:rPr lang="en-US" sz="1200" b="1" dirty="0" err="1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Авто-отчёты</a:t>
            </a:r>
            <a:r>
              <a:rPr lang="en-US" sz="1200" b="1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06040" y="34747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LLM-генерация ежедневных сводок, аномалий и рекомендаций для руководства.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2971800"/>
            <a:ext cx="2029968" cy="1600200"/>
          </a:xfrm>
          <a:prstGeom prst="roundRect">
            <a:avLst>
              <a:gd name="adj" fmla="val 6857"/>
            </a:avLst>
          </a:prstGeom>
          <a:solidFill>
            <a:srgbClr val="0D3B6E">
              <a:alpha val="8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063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 Тепловые карты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4747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Накопленная визуализация движения: горячие зоны, слепые зоны, пути клиентов.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03720" y="2971800"/>
            <a:ext cx="2029968" cy="1600200"/>
          </a:xfrm>
          <a:prstGeom prst="roundRect">
            <a:avLst>
              <a:gd name="adj" fmla="val 6857"/>
            </a:avLst>
          </a:prstGeom>
          <a:solidFill>
            <a:srgbClr val="0D3B6E">
              <a:alpha val="8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3063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Edge AI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95160" y="34747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прямо на камере (Jetson Nano/Hailo). Снижение трафика до нуля.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371600"/>
            <a:ext cx="4114800" cy="41148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0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Превращаем камеры в интеллект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Архитектура и инфраструктура полностью готовы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78608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AI-детекция и трекинг работают на реальном железе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54096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Гибкое развёртывание: SaaS или полная изоляция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529584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Плагинная </a:t>
            </a:r>
            <a:r>
              <a:rPr lang="en-US" sz="1300" dirty="0" err="1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r>
              <a:rPr lang="en-US" sz="13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dirty="0" smtClean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масштабируемо без переписывания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590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2"/>
          <p:cNvSpPr/>
          <p:nvPr/>
        </p:nvSpPr>
        <p:spPr>
          <a:xfrm>
            <a:off x="548640" y="457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BZK-</a:t>
            </a:r>
            <a:r>
              <a:rPr lang="en-US" sz="5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</a:t>
            </a:r>
            <a:endParaRPr lang="en-US" sz="5200" dirty="0"/>
          </a:p>
        </p:txBody>
      </p:sp>
      <p:sp>
        <p:nvSpPr>
          <p:cNvPr id="15" name="Text 3"/>
          <p:cNvSpPr/>
          <p:nvPr/>
        </p:nvSpPr>
        <p:spPr>
          <a:xfrm>
            <a:off x="2834640" y="457200"/>
            <a:ext cx="1097280" cy="832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5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1416</Words>
  <Application>Microsoft Office PowerPoint</Application>
  <PresentationFormat>Экран (16:9)</PresentationFormat>
  <Paragraphs>282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ViziAI — Инвестиционная презентация</dc:title>
  <dc:subject>PptxGenJS Presentation</dc:subject>
  <dc:creator>PptxGenJS</dc:creator>
  <cp:lastModifiedBy>Учетная запись Майкрософт</cp:lastModifiedBy>
  <cp:revision>5</cp:revision>
  <dcterms:created xsi:type="dcterms:W3CDTF">2026-06-17T23:03:46Z</dcterms:created>
  <dcterms:modified xsi:type="dcterms:W3CDTF">2026-06-18T01:49:56Z</dcterms:modified>
</cp:coreProperties>
</file>